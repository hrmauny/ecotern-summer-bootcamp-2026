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70" r:id="rId4"/>
    <p:sldId id="257" r:id="rId5"/>
    <p:sldId id="271" r:id="rId6"/>
    <p:sldId id="272" r:id="rId7"/>
    <p:sldId id="273" r:id="rId8"/>
    <p:sldId id="274" r:id="rId9"/>
    <p:sldId id="275" r:id="rId10"/>
    <p:sldId id="277" r:id="rId11"/>
    <p:sldId id="278" r:id="rId12"/>
    <p:sldId id="279" r:id="rId13"/>
    <p:sldId id="276" r:id="rId14"/>
    <p:sldId id="280" r:id="rId15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640" y="6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2E74-6E3C-4AEF-80F5-044E110EF018}" type="datetimeFigureOut">
              <a:rPr lang="zh-TW" altLang="en-US" smtClean="0"/>
              <a:t>2026/5/10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85D751-2026-4A56-830F-F58F10A1AFB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67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85D751-2026-4A56-830F-F58F10A1AFB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51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Machine Learning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sz="1600" dirty="0" err="1" smtClean="0">
                <a:latin typeface="+mn-lt"/>
                <a:ea typeface="+mn-ea"/>
              </a:rPr>
              <a:t>LiChia</a:t>
            </a:r>
            <a:r>
              <a:rPr lang="en-US" sz="1600" dirty="0" smtClean="0">
                <a:latin typeface="+mn-lt"/>
                <a:ea typeface="+mn-ea"/>
              </a:rPr>
              <a:t> (Jerry) Chang</a:t>
            </a:r>
            <a:endParaRPr lang="en-US" sz="160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AI</a:t>
            </a:r>
            <a:r>
              <a:rPr lang="zh-TW" altLang="en-US" dirty="0" smtClean="0"/>
              <a:t> </a:t>
            </a:r>
            <a:r>
              <a:rPr lang="en-US" altLang="zh-TW" dirty="0" smtClean="0"/>
              <a:t>Evolution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2" t="271" r="264" b="3"/>
          <a:stretch/>
        </p:blipFill>
        <p:spPr>
          <a:xfrm>
            <a:off x="2679313" y="1476375"/>
            <a:ext cx="3549721" cy="353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8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60667DED-6046-8008-9D8D-BE3A728E0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1" t="13495" r="11764" b="7613"/>
          <a:stretch/>
        </p:blipFill>
        <p:spPr>
          <a:xfrm>
            <a:off x="2769944" y="4387010"/>
            <a:ext cx="697097" cy="706389"/>
          </a:xfrm>
          <a:prstGeom prst="rect">
            <a:avLst/>
          </a:prstGeom>
        </p:spPr>
      </p:pic>
      <p:sp>
        <p:nvSpPr>
          <p:cNvPr id="12" name="橢圓形圖說文字 11"/>
          <p:cNvSpPr/>
          <p:nvPr/>
        </p:nvSpPr>
        <p:spPr>
          <a:xfrm>
            <a:off x="510245" y="1429698"/>
            <a:ext cx="7901225" cy="2657316"/>
          </a:xfrm>
          <a:prstGeom prst="wedgeEllipseCallout">
            <a:avLst>
              <a:gd name="adj1" fmla="val -14901"/>
              <a:gd name="adj2" fmla="val 6654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 of AI Pipeline Evolution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90" y="1892052"/>
            <a:ext cx="6301091" cy="2028248"/>
          </a:xfrm>
          <a:prstGeom prst="rect">
            <a:avLst/>
          </a:prstGeom>
        </p:spPr>
      </p:pic>
      <p:pic>
        <p:nvPicPr>
          <p:cNvPr id="1026" name="Picture 2" descr="https://i0.wp.com/novita-blog.s3.ap-southeast-1.amazonaws.com/a-comprehensive-understanding-what-is-an-ai-model-0%2AAbMaLX_Gv9wISyOr.jpeg?w=1000&amp;ssl=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0" r="13798" b="5260"/>
          <a:stretch/>
        </p:blipFill>
        <p:spPr bwMode="auto">
          <a:xfrm>
            <a:off x="2428835" y="1740492"/>
            <a:ext cx="3853423" cy="213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bout – The Komisaun Luta-Anti Tráfiku Umanu (KLATU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4270661"/>
            <a:ext cx="872839" cy="8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橢圓形圖說文字 7"/>
          <p:cNvSpPr/>
          <p:nvPr/>
        </p:nvSpPr>
        <p:spPr>
          <a:xfrm>
            <a:off x="616335" y="3917022"/>
            <a:ext cx="1670330" cy="540558"/>
          </a:xfrm>
          <a:prstGeom prst="wedgeEllipseCallout">
            <a:avLst>
              <a:gd name="adj1" fmla="val -29906"/>
              <a:gd name="adj2" fmla="val 5969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49065" y="4028200"/>
            <a:ext cx="14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Get this worked</a:t>
            </a:r>
            <a:endParaRPr lang="zh-TW" altLang="en-US" sz="1400" dirty="0"/>
          </a:p>
        </p:txBody>
      </p:sp>
      <p:sp>
        <p:nvSpPr>
          <p:cNvPr id="11" name="橢圓形圖說文字 10"/>
          <p:cNvSpPr/>
          <p:nvPr/>
        </p:nvSpPr>
        <p:spPr>
          <a:xfrm>
            <a:off x="3384395" y="4217044"/>
            <a:ext cx="676958" cy="316497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3467041" y="4238574"/>
            <a:ext cx="602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Sure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430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0" grpId="0"/>
      <p:bldP spid="11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765" y="1607576"/>
            <a:ext cx="1799936" cy="110720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90185"/>
            <a:ext cx="8229600" cy="801290"/>
          </a:xfrm>
        </p:spPr>
        <p:txBody>
          <a:bodyPr/>
          <a:lstStyle/>
          <a:p>
            <a:r>
              <a:rPr lang="en-US" altLang="zh-TW" sz="2400" dirty="0" smtClean="0"/>
              <a:t>In the post </a:t>
            </a:r>
            <a:r>
              <a:rPr lang="en-US" altLang="zh-TW" sz="2400" dirty="0" err="1" smtClean="0"/>
              <a:t>Chatgpt</a:t>
            </a:r>
            <a:r>
              <a:rPr lang="en-US" altLang="zh-TW" sz="2400" dirty="0" smtClean="0"/>
              <a:t> era…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691" y="1482385"/>
            <a:ext cx="5456944" cy="2728472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7177765" y="2954088"/>
            <a:ext cx="19984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Models: </a:t>
            </a:r>
          </a:p>
          <a:p>
            <a:r>
              <a:rPr lang="en-US" altLang="zh-TW" sz="1400" dirty="0" smtClean="0"/>
              <a:t>DNN, CNN</a:t>
            </a:r>
            <a:r>
              <a:rPr lang="en-US" altLang="zh-TW" sz="1400" dirty="0" smtClean="0"/>
              <a:t>, RNN</a:t>
            </a:r>
          </a:p>
          <a:p>
            <a:endParaRPr lang="en-US" altLang="zh-TW" sz="1400" dirty="0"/>
          </a:p>
          <a:p>
            <a:r>
              <a:rPr lang="en-US" altLang="zh-TW" sz="1400" dirty="0" smtClean="0"/>
              <a:t>Tasks:</a:t>
            </a:r>
          </a:p>
          <a:p>
            <a:r>
              <a:rPr lang="en-US" altLang="zh-TW" sz="1400" dirty="0" smtClean="0"/>
              <a:t>Regression </a:t>
            </a:r>
          </a:p>
          <a:p>
            <a:r>
              <a:rPr lang="en-US" altLang="zh-TW" sz="1400" dirty="0" smtClean="0"/>
              <a:t>Classification</a:t>
            </a:r>
            <a:endParaRPr lang="zh-TW" altLang="en-US" sz="14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59" t="12498" r="30240" b="12286"/>
          <a:stretch/>
        </p:blipFill>
        <p:spPr>
          <a:xfrm>
            <a:off x="392390" y="1607576"/>
            <a:ext cx="829558" cy="1003011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60634" y="2954087"/>
            <a:ext cx="16850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Models:</a:t>
            </a:r>
          </a:p>
          <a:p>
            <a:r>
              <a:rPr lang="en-US" altLang="zh-TW" sz="1400" dirty="0" smtClean="0"/>
              <a:t>Transformer</a:t>
            </a:r>
          </a:p>
          <a:p>
            <a:endParaRPr lang="en-US" altLang="zh-TW" sz="1400" dirty="0"/>
          </a:p>
          <a:p>
            <a:r>
              <a:rPr lang="en-US" altLang="zh-TW" sz="1400" dirty="0" smtClean="0"/>
              <a:t>Tasks:</a:t>
            </a:r>
          </a:p>
          <a:p>
            <a:r>
              <a:rPr lang="en-US" altLang="zh-TW" sz="1400" dirty="0" smtClean="0"/>
              <a:t>Question answering</a:t>
            </a:r>
          </a:p>
          <a:p>
            <a:r>
              <a:rPr lang="en-US" altLang="zh-TW" sz="1400" dirty="0" smtClean="0"/>
              <a:t>Image generation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0790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1524" y="675085"/>
            <a:ext cx="8489775" cy="801290"/>
          </a:xfrm>
        </p:spPr>
        <p:txBody>
          <a:bodyPr/>
          <a:lstStyle/>
          <a:p>
            <a:r>
              <a:rPr lang="en-US" altLang="zh-TW" dirty="0" smtClean="0"/>
              <a:t>Case Study</a:t>
            </a:r>
            <a:r>
              <a:rPr lang="en-US" altLang="zh-TW" dirty="0"/>
              <a:t>: 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8908" y="1620302"/>
            <a:ext cx="3655075" cy="2921386"/>
          </a:xfrm>
        </p:spPr>
        <p:txBody>
          <a:bodyPr/>
          <a:lstStyle/>
          <a:p>
            <a:r>
              <a:rPr lang="en-US" altLang="zh-TW" sz="1600" dirty="0"/>
              <a:t>Natural resource managers need basic forest inventory data to develop ecosystem management strategies, but often lack such information for nearby lands outside their jurisdiction. Predictive models offer a way to obtain it.</a:t>
            </a:r>
          </a:p>
          <a:p>
            <a:r>
              <a:rPr lang="en-US" altLang="zh-TW" sz="1600" dirty="0" smtClean="0"/>
              <a:t>One </a:t>
            </a:r>
            <a:r>
              <a:rPr lang="en-US" altLang="zh-TW" sz="1600" dirty="0"/>
              <a:t>method of obtaining this information is through the use of predictive models.</a:t>
            </a:r>
            <a:endParaRPr lang="zh-TW" altLang="en-US" sz="1600" dirty="0"/>
          </a:p>
        </p:txBody>
      </p:sp>
      <p:sp>
        <p:nvSpPr>
          <p:cNvPr id="6" name="AutoShape 6" descr="Figure_1-Forest cover types of the western United States. National Atlas of the United States, March 5, 2003, http://nationalatlas.gov 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t="857"/>
          <a:stretch/>
        </p:blipFill>
        <p:spPr>
          <a:xfrm>
            <a:off x="4300896" y="1555996"/>
            <a:ext cx="4651130" cy="336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8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739" y="1634404"/>
            <a:ext cx="6301091" cy="2028248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391524" y="675085"/>
            <a:ext cx="8489775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 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10834" y="3662652"/>
            <a:ext cx="2184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50000 samples</a:t>
            </a:r>
          </a:p>
          <a:p>
            <a:r>
              <a:rPr lang="en-US" altLang="zh-TW" dirty="0" smtClean="0"/>
              <a:t>54 features</a:t>
            </a:r>
          </a:p>
          <a:p>
            <a:r>
              <a:rPr lang="en-US" altLang="zh-TW" dirty="0" smtClean="0"/>
              <a:t>7 forest </a:t>
            </a:r>
            <a:r>
              <a:rPr lang="en-US" altLang="zh-TW" dirty="0" err="1" smtClean="0"/>
              <a:t>covertypes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254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Data Cleaning 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34" y="1644956"/>
            <a:ext cx="6680344" cy="328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2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Preprocessing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429" y="1420802"/>
            <a:ext cx="5054571" cy="3621027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98" y="2345118"/>
            <a:ext cx="3677808" cy="158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9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Model Training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70278" y="1677084"/>
            <a:ext cx="8229600" cy="57607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Random Forest Classifier</a:t>
            </a:r>
            <a:endParaRPr lang="zh-TW" altLang="en-US" dirty="0"/>
          </a:p>
        </p:txBody>
      </p:sp>
      <p:sp>
        <p:nvSpPr>
          <p:cNvPr id="5" name="AutoShape 2" descr="predicting_whether_a_customer_will_buy_a_produ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78" y="2349288"/>
            <a:ext cx="4303881" cy="216831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299" y="2490026"/>
            <a:ext cx="4335018" cy="1750788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804388" y="4630368"/>
            <a:ext cx="400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Criterion: attribute selection measures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764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Model Training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4810" y="1476375"/>
            <a:ext cx="8229600" cy="57607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Random Forest Classifier</a:t>
            </a:r>
            <a:endParaRPr lang="zh-TW" altLang="en-US" dirty="0"/>
          </a:p>
        </p:txBody>
      </p:sp>
      <p:sp>
        <p:nvSpPr>
          <p:cNvPr id="5" name="AutoShape 2" descr="predicting_whether_a_customer_will_buy_a_produ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689" y="2052453"/>
            <a:ext cx="5088145" cy="302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9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Model Training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4810" y="1476375"/>
            <a:ext cx="8229600" cy="57607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Deep Neural Network</a:t>
            </a:r>
            <a:endParaRPr lang="zh-TW" altLang="en-US" dirty="0"/>
          </a:p>
        </p:txBody>
      </p:sp>
      <p:sp>
        <p:nvSpPr>
          <p:cNvPr id="5" name="AutoShape 2" descr="predicting_whether_a_customer_will_buy_a_produ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0" name="Picture 2" descr="Loss Functions Explained. Intuitive explanations of various Loss… | by  Harsha Bommana | Deep Learning Demystified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451" y="2052453"/>
            <a:ext cx="4410338" cy="2513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8" y="2176827"/>
            <a:ext cx="4361920" cy="214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7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126298" y="675085"/>
            <a:ext cx="8755001" cy="801290"/>
          </a:xfrm>
        </p:spPr>
        <p:txBody>
          <a:bodyPr/>
          <a:lstStyle/>
          <a:p>
            <a:r>
              <a:rPr lang="en-US" altLang="zh-TW" dirty="0" smtClean="0"/>
              <a:t>Forest </a:t>
            </a:r>
            <a:r>
              <a:rPr lang="en-US" altLang="zh-TW" dirty="0" err="1" smtClean="0"/>
              <a:t>Covertype</a:t>
            </a:r>
            <a:r>
              <a:rPr lang="en-US" altLang="zh-TW" dirty="0" smtClean="0"/>
              <a:t> Prediction:</a:t>
            </a:r>
            <a:r>
              <a:rPr lang="zh-TW" altLang="en-US" dirty="0" smtClean="0"/>
              <a:t> </a:t>
            </a:r>
            <a:r>
              <a:rPr lang="en-US" altLang="zh-TW" dirty="0" smtClean="0"/>
              <a:t>Model Training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4810" y="1476375"/>
            <a:ext cx="8229600" cy="57607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Deep Neural Network</a:t>
            </a:r>
            <a:endParaRPr lang="zh-TW" altLang="en-US" dirty="0"/>
          </a:p>
        </p:txBody>
      </p:sp>
      <p:sp>
        <p:nvSpPr>
          <p:cNvPr id="5" name="AutoShape 2" descr="predicting_whether_a_customer_will_buy_a_produ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394" y="2277665"/>
            <a:ext cx="2956788" cy="2289126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4698947" y="2277665"/>
            <a:ext cx="235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Optimizer: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24810" y="2139165"/>
            <a:ext cx="313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Loss function / Criterion: </a:t>
            </a:r>
          </a:p>
          <a:p>
            <a:r>
              <a:rPr lang="en-US" altLang="zh-TW" dirty="0" smtClean="0"/>
              <a:t>Cross Entropy Loss</a:t>
            </a:r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54" y="2872208"/>
            <a:ext cx="1227721" cy="2073791"/>
          </a:xfrm>
          <a:prstGeom prst="rect">
            <a:avLst/>
          </a:prstGeom>
        </p:spPr>
      </p:pic>
      <p:cxnSp>
        <p:nvCxnSpPr>
          <p:cNvPr id="11" name="直線單箭頭接點 10"/>
          <p:cNvCxnSpPr/>
          <p:nvPr/>
        </p:nvCxnSpPr>
        <p:spPr>
          <a:xfrm>
            <a:off x="1710596" y="3909103"/>
            <a:ext cx="125994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1757601" y="3551596"/>
            <a:ext cx="1641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 smtClean="0"/>
              <a:t>CrossEntropy</a:t>
            </a:r>
            <a:endParaRPr lang="zh-TW" altLang="en-US" sz="1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3225195" y="3359502"/>
            <a:ext cx="1192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[0</a:t>
            </a:r>
          </a:p>
          <a:p>
            <a:r>
              <a:rPr lang="en-US" altLang="zh-TW" dirty="0" smtClean="0"/>
              <a:t> 0</a:t>
            </a:r>
          </a:p>
          <a:p>
            <a:r>
              <a:rPr lang="en-US" altLang="zh-TW" dirty="0" smtClean="0"/>
              <a:t> 1</a:t>
            </a:r>
          </a:p>
          <a:p>
            <a:r>
              <a:rPr lang="en-US" altLang="zh-TW" dirty="0" smtClean="0"/>
              <a:t> 0]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009538" y="3004731"/>
            <a:ext cx="1761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/>
              <a:t>True label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1818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Forest </a:t>
            </a:r>
            <a:r>
              <a:rPr lang="en-US" altLang="zh-TW" dirty="0" err="1"/>
              <a:t>Covertype</a:t>
            </a:r>
            <a:r>
              <a:rPr lang="en-US" altLang="zh-TW" dirty="0"/>
              <a:t> Prediction:</a:t>
            </a:r>
            <a:r>
              <a:rPr lang="zh-TW" altLang="en-US" dirty="0"/>
              <a:t> </a:t>
            </a:r>
            <a:r>
              <a:rPr lang="en-US" altLang="zh-TW" dirty="0" smtClean="0"/>
              <a:t>Evaluation</a:t>
            </a:r>
            <a:endParaRPr lang="zh-TW" altLang="en-US" dirty="0"/>
          </a:p>
        </p:txBody>
      </p:sp>
      <p:pic>
        <p:nvPicPr>
          <p:cNvPr id="4098" name="Picture 2" descr="https://upload.wikimedia.org/wikipedia/commons/thumb/2/26/Precisionrecall.svg/500px-Precisionrecal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01" y="1297265"/>
            <a:ext cx="2063351" cy="375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25176" y="1601463"/>
            <a:ext cx="156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F1-score: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29" y="2095883"/>
            <a:ext cx="1437972" cy="42509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430545" y="1651982"/>
            <a:ext cx="201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Confusion matrix: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425" y="2021314"/>
            <a:ext cx="2859395" cy="27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590" y="2226028"/>
            <a:ext cx="8229600" cy="801290"/>
          </a:xfrm>
        </p:spPr>
        <p:txBody>
          <a:bodyPr/>
          <a:lstStyle/>
          <a:p>
            <a:r>
              <a:rPr lang="en-US" altLang="zh-TW" dirty="0" smtClean="0"/>
              <a:t>Coding Time!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331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ncstate-ppt-template-16x9-horizontal-left-brick</Template>
  <TotalTime>1211</TotalTime>
  <Words>198</Words>
  <Application>Microsoft Office PowerPoint</Application>
  <PresentationFormat>如螢幕大小 (16:9)</PresentationFormat>
  <Paragraphs>51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ＭＳ Ｐゴシック</vt:lpstr>
      <vt:lpstr>新細明體</vt:lpstr>
      <vt:lpstr>Arial</vt:lpstr>
      <vt:lpstr>Calibri</vt:lpstr>
      <vt:lpstr>NCStateU-horizontal-left-logo</vt:lpstr>
      <vt:lpstr>Machine Learning Basics</vt:lpstr>
      <vt:lpstr>AI Evolution</vt:lpstr>
      <vt:lpstr>Overview of AI Pipeline Evolution</vt:lpstr>
      <vt:lpstr>In the post Chatgpt era…</vt:lpstr>
      <vt:lpstr>Case Study: Forest Covertype Prediction </vt:lpstr>
      <vt:lpstr>Forest Covertype Prediction </vt:lpstr>
      <vt:lpstr>Forest Covertype Prediction: Data Cleaning </vt:lpstr>
      <vt:lpstr>Forest Covertype Prediction: Preprocessing</vt:lpstr>
      <vt:lpstr>Forest Covertype Prediction: Model Training</vt:lpstr>
      <vt:lpstr>Forest Covertype Prediction: Model Training</vt:lpstr>
      <vt:lpstr>Forest Covertype Prediction: Model Training</vt:lpstr>
      <vt:lpstr>Forest Covertype Prediction: Model Training</vt:lpstr>
      <vt:lpstr>Forest Covertype Prediction: Evaluation</vt:lpstr>
      <vt:lpstr>Coding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Efficiency in Practice</dc:title>
  <dc:creator>Li-Chia Chang</dc:creator>
  <cp:lastModifiedBy>Li-Chia Chang</cp:lastModifiedBy>
  <cp:revision>42</cp:revision>
  <dcterms:created xsi:type="dcterms:W3CDTF">2025-11-09T01:49:21Z</dcterms:created>
  <dcterms:modified xsi:type="dcterms:W3CDTF">2026-05-11T01:48:32Z</dcterms:modified>
</cp:coreProperties>
</file>